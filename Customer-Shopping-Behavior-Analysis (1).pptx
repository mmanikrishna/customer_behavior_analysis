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7.png"/><Relationship Id="rId10" Type="http://schemas.openxmlformats.org/officeDocument/2006/relationships/image" Target="../media/image-6-8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2.png"/><Relationship Id="rId5" Type="http://schemas.openxmlformats.org/officeDocument/2006/relationships/image" Target="../media/image-9-3.svg"/><Relationship Id="rId6" Type="http://schemas.openxmlformats.org/officeDocument/2006/relationships/image" Target="../media/image-9-2.png"/><Relationship Id="rId7" Type="http://schemas.openxmlformats.org/officeDocument/2006/relationships/image" Target="../media/image-9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24293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707705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deep-dive into 3,900 transactions — uncovering revenue patterns, customer segments, and actionable insights for data-driven decision making.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28141"/>
            <a:ext cx="6296860" cy="1089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Dataset Overview: 3,900 Transactions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661475" y="1858070"/>
            <a:ext cx="6296860" cy="997446"/>
          </a:xfrm>
          <a:prstGeom prst="roundRect">
            <a:avLst>
              <a:gd name="adj" fmla="val 733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42048" y="2038648"/>
            <a:ext cx="593571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 Features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42048" y="2407146"/>
            <a:ext cx="5935712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Spanning demographics, purchase history, and behavioral attributes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61475" y="3016151"/>
            <a:ext cx="6296860" cy="997446"/>
          </a:xfrm>
          <a:prstGeom prst="roundRect">
            <a:avLst>
              <a:gd name="adj" fmla="val 733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2048" y="3196729"/>
            <a:ext cx="593571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 Missing Values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42048" y="3565227"/>
            <a:ext cx="5935712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 Rating gaps handled via category-level median imputation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61475" y="4174232"/>
            <a:ext cx="6296860" cy="997446"/>
          </a:xfrm>
          <a:prstGeom prst="roundRect">
            <a:avLst>
              <a:gd name="adj" fmla="val 733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2048" y="4354810"/>
            <a:ext cx="593571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$59.76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42048" y="4723309"/>
            <a:ext cx="5935712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purchase amount across all transactions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61475" y="5332313"/>
            <a:ext cx="6296860" cy="997446"/>
          </a:xfrm>
          <a:prstGeom prst="roundRect">
            <a:avLst>
              <a:gd name="adj" fmla="val 733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2048" y="5512891"/>
            <a:ext cx="593571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3.75 / 5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42048" y="5881390"/>
            <a:ext cx="5935712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customer review rating across the dataset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1088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Revenue Split: Male Customers Drive 68% of Sales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88480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226486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Gender-Based Spending Breakdown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749153"/>
            <a:ext cx="5203794" cy="198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Male customers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account for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1B1B2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$157,890 — 67.7%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total revenue, while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Female customers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contribute $75,191 (32.3%).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significant disparity is not merely a demographic coincidence — it signals a structural skew in either acquisition or purchasing patterns that warrants deeper segmentation analysis.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332776" y="4946352"/>
            <a:ext cx="5203794" cy="1039416"/>
          </a:xfrm>
          <a:prstGeom prst="roundRect">
            <a:avLst>
              <a:gd name="adj" fmla="val 7638"/>
            </a:avLst>
          </a:prstGeom>
          <a:solidFill>
            <a:srgbClr val="E1E1E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783" y="5233095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7024" y="5163641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Targeted marketing campaigns toward female customers represent an underexplored growth lever.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56605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Segments: 80% Are Loyal Repeat Buyers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910384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3,116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75" y="3770313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Loyal Customers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4178995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10+ purchases — representing </a:t>
            </a:r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79.9%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all customers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363135" y="2910384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701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4363135" y="3770313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Returning Customers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363135" y="4178995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5–9 purchases — representing </a:t>
            </a:r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18.0%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all customers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64794" y="2910384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83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8064794" y="3770313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New Customers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064794" y="4178995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Fewer than 5 purchases — representing </a:t>
            </a:r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2.1%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all customers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61475" y="499645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customer base is overwhelmingly retention-driven. New customer acquisition is minimal — this is a mature, sticky audience with strong habitual purchasing behavior.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3957"/>
            <a:ext cx="10868745" cy="1089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Subscription Paradox: Non-Subscribers Generate 73% of Revenue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14562"/>
            <a:ext cx="5221851" cy="3758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14719" y="2194520"/>
            <a:ext cx="522185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Volume Effect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314719" y="2627313"/>
            <a:ext cx="5221851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Despite subscription programs typically rewarding high spenders, the per-customer average spend is nearly identical: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314719" y="3307457"/>
            <a:ext cx="5221851" cy="591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Subscribers:</a:t>
            </a:r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$59.49 avg spend</a:t>
            </a:r>
            <a:endParaRPr lang="en-US" sz="1350" dirty="0"/>
          </a:p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Non-Subscribers:</a:t>
            </a:r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$59.87 avg spend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14719" y="4043759"/>
            <a:ext cx="5221851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revenue gap is entirely explained by </a:t>
            </a:r>
            <a:pPr algn="l"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volume</a:t>
            </a:r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non-subscribers outnumber subscribers by nearly 3:1. The subscription program is not creating a meaningful spend uplift per customer.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314719" y="5027811"/>
            <a:ext cx="5221851" cy="911820"/>
          </a:xfrm>
          <a:prstGeom prst="roundRect">
            <a:avLst>
              <a:gd name="adj" fmla="val 8026"/>
            </a:avLst>
          </a:prstGeom>
          <a:solidFill>
            <a:srgbClr val="FCF2B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8942" y="5270004"/>
            <a:ext cx="217780" cy="1742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80946" y="5215930"/>
            <a:ext cx="4481400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Current subscription benefits may not be compelling enough to drive adoption or incremental spend.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991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Top 5 Highest-Rated Products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728589"/>
            <a:ext cx="3496877" cy="16814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96410" y="1870373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875881" y="2484537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Gloves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75881" y="2893219"/>
            <a:ext cx="306806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3.86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avg rating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1728589"/>
            <a:ext cx="3496877" cy="16814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82294" y="1870373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4561766" y="2484537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Sandals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561766" y="2893219"/>
            <a:ext cx="306806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3.84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avg rating</a:t>
            </a:r>
            <a:endParaRPr lang="en-US" sz="14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1728589"/>
            <a:ext cx="3496877" cy="16814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68179" y="1870373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8247650" y="2484537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Boots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247650" y="2893219"/>
            <a:ext cx="306806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3.82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avg rating</a:t>
            </a:r>
            <a:endParaRPr lang="en-US" sz="14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599061"/>
            <a:ext cx="5339820" cy="16814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217931" y="3740845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750" dirty="0"/>
          </a:p>
        </p:txBody>
      </p:sp>
      <p:sp>
        <p:nvSpPr>
          <p:cNvPr id="17" name="Text 11"/>
          <p:cNvSpPr/>
          <p:nvPr/>
        </p:nvSpPr>
        <p:spPr>
          <a:xfrm>
            <a:off x="875881" y="4355009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Hat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875881" y="4763691"/>
            <a:ext cx="491100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3.80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avg rating</a:t>
            </a:r>
            <a:endParaRPr lang="en-US" sz="14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90301" y="3599061"/>
            <a:ext cx="5339820" cy="16814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746757" y="3740845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750" dirty="0"/>
          </a:p>
        </p:txBody>
      </p:sp>
      <p:sp>
        <p:nvSpPr>
          <p:cNvPr id="21" name="Text 14"/>
          <p:cNvSpPr/>
          <p:nvPr/>
        </p:nvSpPr>
        <p:spPr>
          <a:xfrm>
            <a:off x="6404708" y="4355009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Skirt</a:t>
            </a:r>
            <a:endParaRPr lang="en-US" sz="1850" dirty="0"/>
          </a:p>
        </p:txBody>
      </p:sp>
      <p:sp>
        <p:nvSpPr>
          <p:cNvPr id="22" name="Text 15"/>
          <p:cNvSpPr/>
          <p:nvPr/>
        </p:nvSpPr>
        <p:spPr>
          <a:xfrm>
            <a:off x="6404708" y="4763691"/>
            <a:ext cx="491100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3.78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avg rating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661475" y="5493147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Footwear and accessories dominate satisfaction metrics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 consistent signal that product quality and fit expectations are best met in these categories.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0998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Discount Dependency: Hat Leads at 50% Discount Rate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377454"/>
            <a:ext cx="5236238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High-Discount Products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61475" y="1770757"/>
            <a:ext cx="5236238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five products show the highest proportion of transactions involving a discount:</a:t>
            </a:r>
            <a:endParaRPr lang="en-US" sz="1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410916"/>
            <a:ext cx="5236238" cy="37691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00332" y="1377454"/>
            <a:ext cx="5236238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Margin Risk Alert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300332" y="1770757"/>
            <a:ext cx="5236238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Nearly </a:t>
            </a:r>
            <a:pPr algn="l" indent="0" marL="0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half of all transactions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these products involve a discount. While discounts drive volume, this level of dependency raises structural margin concerns.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300332" y="2621161"/>
            <a:ext cx="5236238" cy="822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Are customers conditioned to wait for discounts?</a:t>
            </a:r>
            <a:endParaRPr lang="en-US" sz="1250" dirty="0"/>
          </a:p>
          <a:p>
            <a:pPr algn="l" marL="254000" indent="-254000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 full-price demand being cannibalised?</a:t>
            </a:r>
            <a:endParaRPr lang="en-US" sz="1250" dirty="0"/>
          </a:p>
          <a:p>
            <a:pPr algn="l" marL="254000" indent="-254000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 these items generate positive contribution margin post-discount?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0332" y="3600549"/>
            <a:ext cx="5236238" cy="815578"/>
          </a:xfrm>
          <a:prstGeom prst="roundRect">
            <a:avLst>
              <a:gd name="adj" fmla="val 8365"/>
            </a:avLst>
          </a:prstGeom>
          <a:solidFill>
            <a:srgbClr val="FFB3B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2749" y="3816251"/>
            <a:ext cx="202996" cy="1624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28163" y="3766741"/>
            <a:ext cx="4545990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Heavy reliance on discounts may erode margins on these high-frequency items without driving net-new demand.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Revenue by Age Group: Young Adults Lead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09538"/>
            <a:ext cx="10868745" cy="60865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7049195"/>
            <a:ext cx="10868745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 is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remarkably balanced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across age groups — Young Adults lead at 26.6% ($62,143) but the spread between the top and bottom segments is only ~$6,400. This suggests consistent purchasing behavior across the full age spectrum, with Young Adults representing a slight but meaningful priority segment for personalized campaigns.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37964"/>
            <a:ext cx="6296860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Strategic Recommendations</a:t>
            </a:r>
            <a:endParaRPr lang="en-US" sz="3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323380"/>
            <a:ext cx="6296860" cy="155842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502832" y="1516658"/>
            <a:ext cx="583411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Subscription Growth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5502832" y="1885156"/>
            <a:ext cx="5834115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Increase adoption through exclusive benefits and loyalty rewards. The near-identical per-customer spend means </a:t>
            </a:r>
            <a:pPr algn="l"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volume is the lever</a:t>
            </a:r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convert high-frequency non-subscribers first.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042444"/>
            <a:ext cx="6296860" cy="155842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502832" y="3235722"/>
            <a:ext cx="583411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Discount Optimization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5502832" y="3604220"/>
            <a:ext cx="5834115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Optimize discount strategy by product category. Conduct margin impact analysis on Hat, Sneakers, and Coat — the top three discount-dependent items — before next promotional cycle.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761508"/>
            <a:ext cx="6296860" cy="155842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502832" y="4954786"/>
            <a:ext cx="583411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Targeted Marketing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5502832" y="5323284"/>
            <a:ext cx="5834115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Prioritize Young Adults and the 3,116 Loyal customers with personalized campaigns. This cohort represents </a:t>
            </a:r>
            <a:pPr algn="l"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79.9% of the customer base</a:t>
            </a:r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is already primed for upsell and cross-sell.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2026-09-12T16:42:28Z</dcterms:created>
  <dcterms:modified xsi:type="dcterms:W3CDTF">2026-09-12T16:42:28Z</dcterms:modified>
</cp:coreProperties>
</file>